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Cambria"/>
              </a:rPr>
              <a:t>Mnemosyne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CADCFC"/>
                </a:solidFill>
                <a:latin typeface="Calibri"/>
              </a:rPr>
              <a:t>Linear-Time Genomic Sequence Modeling with a Unified Associative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8862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2E8B7A"/>
                </a:solidFill>
                <a:latin typeface="Calibri"/>
              </a:rPr>
              <a:t>Persistent motifs  +  sequence registers   ·   reverse-complement equivariant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1206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Charan Sai Ponnada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5321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6A78"/>
                </a:solidFill>
                <a:latin typeface="Calibri"/>
              </a:rPr>
              <a:t>Research overview  ·  July 2026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4617720"/>
            <a:ext cx="182880" cy="182880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9576" y="4617720"/>
            <a:ext cx="182880" cy="182880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90472" y="4617720"/>
            <a:ext cx="182880" cy="182880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1B24"/>
                </a:solidFill>
                <a:latin typeface="Cambria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E8B7A"/>
                </a:solidFill>
                <a:latin typeface="Calibri"/>
              </a:rPr>
              <a:t>DNA function spans enormous distances — a model must satisfy three demands at once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O(L)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30632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1B24"/>
                </a:solidFill>
                <a:latin typeface="Calibri"/>
              </a:rPr>
              <a:t>Linear-time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10128"/>
            <a:ext cx="31089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6A78"/>
                </a:solidFill>
                <a:latin typeface="Calibri"/>
              </a:rPr>
              <a:t>Reach 10^5–10^6 bp enhancer–promoter contexts at 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7830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17720" y="2011680"/>
            <a:ext cx="640080" cy="640080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A↔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80360"/>
            <a:ext cx="30632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1B24"/>
                </a:solidFill>
                <a:latin typeface="Calibri"/>
              </a:rPr>
              <a:t>Content-addressable recall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310128"/>
            <a:ext cx="31089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6A78"/>
                </a:solidFill>
                <a:latin typeface="Calibri"/>
              </a:rPr>
              <a:t>Retrieve sparse motifs &amp; distal elements by content, not position.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520440" cy="22860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880360"/>
            <a:ext cx="30632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1B24"/>
                </a:solidFill>
                <a:latin typeface="Calibri"/>
              </a:rPr>
              <a:t>Reverse-complement symmetry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310128"/>
            <a:ext cx="31089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6A78"/>
                </a:solidFill>
                <a:latin typeface="Calibri"/>
              </a:rPr>
              <a:t>DNA is double-stranded: forward and RC strands are the same molecule.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43400"/>
            <a:ext cx="10881360" cy="1737360"/>
          </a:xfrm>
          <a:prstGeom prst="roundRect">
            <a:avLst>
              <a:gd name="adj" fmla="val 8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1042416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1B1B24"/>
                </a:solidFill>
                <a:latin typeface="Calibri"/>
              </a:rPr>
              <a:t>No mainstream architecture does all three.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1B24"/>
                </a:solidFill>
                <a:latin typeface="Calibri"/>
              </a:rPr>
              <a:t>• Transformers (DNABERT-2): strong recall, but O(L²) — context is capped.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1B24"/>
                </a:solidFill>
                <a:latin typeface="Calibri"/>
              </a:rPr>
              <a:t>• Selective SSMs (Mamba, HyenaDNA): O(L), but a fixed-width state means recall collapses with distance.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B1B24"/>
                </a:solidFill>
                <a:latin typeface="Calibri"/>
              </a:rPr>
              <a:t>• Caduceus: adds the missing RC symmetry to Mamba — but inherits the fixed-state recall bottleneck.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A6A7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1B24"/>
                </a:solidFill>
                <a:latin typeface="Cambria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E8B7A"/>
                </a:solidFill>
                <a:latin typeface="Calibri"/>
              </a:rPr>
              <a:t>Turn the three demands into one linear-cost mechanism — and test it honestly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83080"/>
            <a:ext cx="566928" cy="566928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1755648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83080" y="1801368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B24"/>
                </a:solidFill>
                <a:latin typeface="Calibri"/>
              </a:rPr>
              <a:t>Add a linear-cost associative memory that every token reads by one Hopfield step.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60904"/>
            <a:ext cx="566928" cy="566928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2633472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679192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B24"/>
                </a:solidFill>
                <a:latin typeface="Calibri"/>
              </a:rPr>
              <a:t>Unify two slot types: a learned universal-motif dictionary (persistent) and per-sequence long-range recall (registers).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538728"/>
            <a:ext cx="566928" cy="566928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3511296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3557016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B24"/>
                </a:solidFill>
                <a:latin typeface="Calibri"/>
              </a:rPr>
              <a:t>Guarantee exact reverse-complement equivariance by construction.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16552"/>
            <a:ext cx="566928" cy="566928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08760" y="4389120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4434840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B24"/>
                </a:solidFill>
                <a:latin typeface="Calibri"/>
              </a:rPr>
              <a:t>Prove linear time (semiseparable + low-rank) and verify the memory is actually active.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294376"/>
            <a:ext cx="566928" cy="566928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5266944"/>
            <a:ext cx="9966960" cy="713232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83080" y="5312664"/>
            <a:ext cx="95097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>
                <a:solidFill>
                  <a:srgbClr val="1B1B24"/>
                </a:solidFill>
                <a:latin typeface="Calibri"/>
              </a:rPr>
              <a:t>Test the falsifiable claim — memory beats a matched SSM at long range — with no fabricated numbers.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A6A7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1B24"/>
                </a:solidFill>
                <a:latin typeface="Cambria"/>
              </a:rPr>
              <a:t>Related work I — sequence models &amp; associative memory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984248"/>
            <a:ext cx="182880" cy="182880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1856232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State-space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95144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S4 (Gu '22) → Mamba (Gu &amp; Dao '23) → Mamba-2 / SSD (Dao &amp; Gu '24): linear-time, but a known recall bottleneck.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28232" y="1984248"/>
            <a:ext cx="182880" cy="182880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1856232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Long convolutions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95144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Hyena (Poli '23), HyenaDNA (Nguyen '23): million-token contexts via implicit convolutions.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72968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3465576"/>
            <a:ext cx="182880" cy="182880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333756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Hybrids re-add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Jamba (Lieber '24), Griffin (De '24): interleave attention to recover recall — at higher cost.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72968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2" y="3465576"/>
            <a:ext cx="182880" cy="182880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333756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The recall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76472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Zoology / MQAR (Arora '23), Based (Arora '24): efficient models under-recall; MQAR isolates the gap.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54296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946904"/>
            <a:ext cx="182880" cy="182880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7" y="4818888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Associative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Modern Hopfield (Ramsauer '21), Energy Transformer (Hoover '23), optimal capacity (Wu '24), Perceiver bottleneck (Jaegle '21).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654296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8232" y="4946904"/>
            <a:ext cx="182880" cy="182880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4818888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Pre-training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257800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Attention Is All You Need (Vaswani '17); Masked Autoencoders (He '22) — our pre-training objective.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A6A7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1B24"/>
                </a:solidFill>
                <a:latin typeface="Cambria"/>
              </a:rPr>
              <a:t>Related work II — genomic foundation models &amp; benchmarks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984248"/>
            <a:ext cx="182880" cy="182880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1856232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Transformer DNA 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95144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DNABERT (Ji '21), DNABERT-2 (Zhou '24), Nucleotide Transformer (Dalla-Torre '25), GENA-LM (Fishman '25), GROVER ('24).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9164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28232" y="1984248"/>
            <a:ext cx="182880" cy="182880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39128" y="1856232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Efficient / long-range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295144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HyenaDNA (Nguyen '23); Caduceus (Schiff '24) — RC-equivariant Mamba, the closest prior design.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72968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3465576"/>
            <a:ext cx="182880" cy="182880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7" y="333756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Frontier generative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76472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Evo (Nguyen '24, 7B); Evo 2 (Brixi '25, 40B, 9.3T nt, 1 Mb ctx) — the scale frontier.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72968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2" y="3465576"/>
            <a:ext cx="182880" cy="182880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39128" y="3337560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Regulatory / functional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76472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Enformer (Avsec '21), Borzoi (Linder '25), AlphaGenome (Avsec '25) — variant-effect SOTA.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654296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96112" y="4946904"/>
            <a:ext cx="182880" cy="182880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7" y="4818888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Benchmarks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257800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GUE, Genomic Benchmarks, BEND (Marin '24) — where we will evaluate, fairly.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4654296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28232" y="4946904"/>
            <a:ext cx="182880" cy="182880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4818888"/>
            <a:ext cx="46634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B1B24"/>
                </a:solidFill>
                <a:latin typeface="Calibri"/>
              </a:rPr>
              <a:t>The gap we target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257800"/>
            <a:ext cx="48920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A6A78"/>
                </a:solidFill>
                <a:latin typeface="Calibri"/>
              </a:rPr>
              <a:t>None combines O(L) + content-addressable recall + RC symmetry. Mnemosyne aims exactly there.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A6A7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1B24"/>
                </a:solidFill>
                <a:latin typeface="Cambria"/>
              </a:rPr>
              <a:t>Methodology (1/3) —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E8B7A"/>
                </a:solidFill>
                <a:latin typeface="Calibri"/>
              </a:rPr>
              <a:t>A selective SSM in parallel with a unified associative memory, fused by a learned gate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160" y="1554480"/>
            <a:ext cx="6663375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26364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6A78"/>
                </a:solidFill>
                <a:latin typeface="Calibri"/>
              </a:rPr>
              <a:t>Left: RC-equivariant masked-autoencoder stack.   Right: one Mnemosyne block — token-mixing = semiseparable (SSM) + low-rank (memory), hence O(L).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A6A7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1B24"/>
                </a:solidFill>
                <a:latin typeface="Cambria"/>
              </a:rPr>
              <a:t>Methodology (2/3) — Unified associative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37360"/>
            <a:ext cx="548640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1B24"/>
                </a:solidFill>
                <a:latin typeface="Calibri"/>
              </a:rPr>
              <a:t>Every token reads S = P_p + P_r slots by one Hopfield step: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B1B2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E8B7A"/>
                </a:solidFill>
                <a:latin typeface="Calibri"/>
              </a:rPr>
              <a:t>Persistent slots  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A6A78"/>
                </a:solidFill>
                <a:latin typeface="Calibri"/>
              </a:rPr>
              <a:t>Learned parameters — a differentiable dictionary of universal motifs, shared across all sequences.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1B1B2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A6EA5"/>
                </a:solidFill>
                <a:latin typeface="Calibri"/>
              </a:rPr>
              <a:t>Register slots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A6A78"/>
                </a:solidFill>
                <a:latin typeface="Calibri"/>
              </a:rPr>
              <a:t>Gathered from the current sequence (Perceiver bottleneck) → per-sequence, distance-independent recall.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500" b="0">
                <a:solidFill>
                  <a:srgbClr val="1B1B24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8A2B"/>
                </a:solidFill>
                <a:latin typeface="Calibri"/>
              </a:rPr>
              <a:t>Learned per-channel gate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A6A78"/>
                </a:solidFill>
                <a:latin typeface="Calibri"/>
              </a:rPr>
              <a:t>σ(·)⊙ — starts closed (negative-bias init), opens as memory earns its place. Cannot be silenced by one logit (v1's failure).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737360"/>
            <a:ext cx="5120640" cy="1417320"/>
          </a:xfrm>
          <a:prstGeom prst="roundRect">
            <a:avLst>
              <a:gd name="adj" fmla="val 8000"/>
            </a:avLst>
          </a:prstGeom>
          <a:solidFill>
            <a:srgbClr val="E9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874519"/>
            <a:ext cx="46634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1B24"/>
                </a:solidFill>
                <a:latin typeface="Cambria"/>
              </a:rPr>
              <a:t>Read:   rᵢ = V · softmax( β · qᵢ Kᵀ 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B1B24"/>
                </a:solidFill>
                <a:latin typeface="Cambria"/>
              </a:rPr>
              <a:t>Gather:  Reg = softmax( β Z Xᵀ ) · 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6A78"/>
                </a:solidFill>
                <a:latin typeface="Calibri"/>
              </a:rPr>
              <a:t>β learnable → soft motif-family vs. sharp single-motif recall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33756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2E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3474720"/>
            <a:ext cx="4663440" cy="1143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E8B7A"/>
                </a:solidFill>
                <a:latin typeface="Calibri"/>
              </a:rPr>
              <a:t>Theorem (linear time)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B24"/>
                </a:solidFill>
                <a:latin typeface="Calibri"/>
              </a:rPr>
              <a:t>token-mixing = N-semiseparable (SSM) + rank ≤ P_p+P_r (memory)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1B24"/>
                </a:solidFill>
                <a:latin typeface="Calibri"/>
              </a:rPr>
              <a:t>⇒ O( L · (N + P_p + P_r) · d ),  no L×L matrix formed.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864608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E08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4992624"/>
            <a:ext cx="466344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E08A2B"/>
                </a:solidFill>
                <a:latin typeface="Calibri"/>
              </a:rPr>
              <a:t>Reverse-complement equivariance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B1B24"/>
                </a:solidFill>
                <a:latin typeface="Calibri"/>
              </a:rPr>
              <a:t>output = ½[ f(x) + S·f(Rx) ] — exact; tested to 0.0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A6A7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1B24"/>
                </a:solidFill>
                <a:latin typeface="Cambria"/>
              </a:rPr>
              <a:t>Methodology (3/3) — Data &amp; experimental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002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1B24"/>
                </a:solidFill>
                <a:latin typeface="Calibri"/>
              </a:rPr>
              <a:t>Data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2E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21408"/>
            <a:ext cx="219456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1B24"/>
                </a:solidFill>
                <a:latin typeface="Calibri"/>
              </a:rPr>
              <a:t>Multi-species genomes
(UCSC: human, mouse,
zebrafish, …)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35808" y="2286000"/>
            <a:ext cx="457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A6A78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201168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121408"/>
            <a:ext cx="219456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1B24"/>
                </a:solidFill>
                <a:latin typeface="Calibri"/>
              </a:rPr>
              <a:t>Sliding windows
1024 bp, stride 512,
filter &gt;5%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4728" y="2286000"/>
            <a:ext cx="457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A6A78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2E8B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21408"/>
            <a:ext cx="219456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1B24"/>
                </a:solidFill>
                <a:latin typeface="Calibri"/>
              </a:rPr>
              <a:t>Single-nucleotide
tokenize
{A,C,G,T,N}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2286000"/>
            <a:ext cx="457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6A6A78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6840" y="2011680"/>
            <a:ext cx="2423160" cy="105156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 w="12700">
            <a:solidFill>
              <a:srgbClr val="3A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2121408"/>
            <a:ext cx="2194560" cy="8686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1B1B24"/>
                </a:solidFill>
                <a:latin typeface="Calibri"/>
              </a:rPr>
              <a:t>MAE objective
mask 30%,
predict originals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105156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B1B24"/>
                </a:solidFill>
                <a:latin typeface="Calibri"/>
              </a:rPr>
              <a:t>Experiments (controlled — SSM baseline = same backbone, memory OFF)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4087368"/>
            <a:ext cx="164592" cy="16459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0431" y="3977639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1B24"/>
                </a:solidFill>
                <a:latin typeface="Calibri"/>
              </a:rPr>
              <a:t>MQAR long-range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6A78"/>
                </a:solidFill>
                <a:latin typeface="Calibri"/>
              </a:rPr>
              <a:t>Synthetic recall at controllable distance — the falsifiable core test.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88620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4087368"/>
            <a:ext cx="164592" cy="164592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02552" y="3977639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1B24"/>
                </a:solidFill>
                <a:latin typeface="Calibri"/>
              </a:rPr>
              <a:t>Controlled MAE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4340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6A78"/>
                </a:solidFill>
                <a:latin typeface="Calibri"/>
              </a:rPr>
              <a:t>Memory ON vs OFF; log gate + Hopfield energy to prove memory is active.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377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138928"/>
            <a:ext cx="164592" cy="164592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70431" y="502920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1B24"/>
                </a:solidFill>
                <a:latin typeface="Calibri"/>
              </a:rPr>
              <a:t>GUE downstream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6A78"/>
                </a:solidFill>
                <a:latin typeface="Calibri"/>
              </a:rPr>
              <a:t>Frozen linear probe on BOTH models (fair); report MCC. No probe-vs-finetune spin.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493776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00800" y="5138928"/>
            <a:ext cx="164592" cy="16459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2" y="5029200"/>
            <a:ext cx="46634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B1B24"/>
                </a:solidFill>
                <a:latin typeface="Calibri"/>
              </a:rPr>
              <a:t>Ablations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394960"/>
            <a:ext cx="493776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6A78"/>
                </a:solidFill>
                <a:latin typeface="Calibri"/>
              </a:rPr>
              <a:t>Sweep P_r, P_p, β, and gate to show which component earns its keep.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2E8B7A"/>
                </a:solidFill>
                <a:latin typeface="Calibri"/>
              </a:rPr>
              <a:t>All paper numbers are auto-generated from run logs; any unfilled result renders as a red TODO.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A6A7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1B24"/>
                </a:solidFill>
                <a:latin typeface="Cambria"/>
              </a:rPr>
              <a:t>Results — verified now, and the falsifiable prediction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83080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37943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2E8B7A"/>
                </a:solidFill>
                <a:latin typeface="Cambria"/>
              </a:rPr>
              <a:t>7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350008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6A78"/>
                </a:solidFill>
                <a:latin typeface="Calibri"/>
              </a:rPr>
              <a:t>CPU correctness tests pass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62072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916936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E08A2B"/>
                </a:solidFill>
                <a:latin typeface="Cambria"/>
              </a:rPr>
              <a:t>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29000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6A78"/>
                </a:solidFill>
                <a:latin typeface="Calibri"/>
              </a:rPr>
              <a:t>RC-equivariance error (exact)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41063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95927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3A6EA5"/>
                </a:solidFill>
                <a:latin typeface="Cambria"/>
              </a:rPr>
              <a:t>gate 0.12 · E −27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507992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6A78"/>
                </a:solidFill>
                <a:latin typeface="Calibri"/>
              </a:rPr>
              <a:t>memory is ACTIVE (not inert — v1's failure)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020055"/>
            <a:ext cx="5212080" cy="960120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5074919"/>
            <a:ext cx="47548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2E8B7A"/>
                </a:solidFill>
                <a:latin typeface="Cambria"/>
              </a:rPr>
              <a:t>27M vs 16M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586983"/>
            <a:ext cx="47548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6A6A78"/>
                </a:solidFill>
                <a:latin typeface="Calibri"/>
              </a:rPr>
              <a:t>memory vs matched SSM baseline (controlled)</a:t>
            </a:r>
          </a:p>
        </p:txBody>
      </p:sp>
      <p:pic>
        <p:nvPicPr>
          <p:cNvPr id="15" name="Picture 14" descr="expected_long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83080"/>
            <a:ext cx="5394960" cy="3342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26480" y="5806440"/>
            <a:ext cx="53949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1B1B24"/>
                </a:solidFill>
                <a:latin typeface="Calibri"/>
              </a:rPr>
              <a:t>Prediction: SSM recall decays with distance; memory stays flat.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A6A78"/>
                </a:solidFill>
                <a:latin typeface="Calibri"/>
              </a:rPr>
              <a:t>Headline MQAR / GUE numbers pending free-GPU runs — we report only what we measure.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A6A7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Is it working? Groundbreaking? Why might it fail?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3611880" cy="4572000"/>
          </a:xfrm>
          <a:prstGeom prst="roundRect">
            <a:avLst>
              <a:gd name="adj" fmla="val 8000"/>
            </a:avLst>
          </a:prstGeom>
          <a:solidFill>
            <a:srgbClr val="16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847088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Working?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315468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•  </a:t>
            </a:r>
            <a:r>
              <a:rPr sz="1200" b="0">
                <a:solidFill>
                  <a:srgbClr val="CADCFC"/>
                </a:solidFill>
                <a:latin typeface="Calibri"/>
              </a:rPr>
              <a:t>Mechanism runs and is active — verified.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•  </a:t>
            </a:r>
            <a:r>
              <a:rPr sz="1200" b="0">
                <a:solidFill>
                  <a:srgbClr val="CADCFC"/>
                </a:solidFill>
                <a:latin typeface="Calibri"/>
              </a:rPr>
              <a:t>RC-equivariance proven (0.0 error).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2E8B7A"/>
                </a:solidFill>
                <a:latin typeface="Calibri"/>
              </a:rPr>
              <a:t>•  </a:t>
            </a:r>
            <a:r>
              <a:rPr sz="1200" b="0">
                <a:solidFill>
                  <a:srgbClr val="CADCFC"/>
                </a:solidFill>
                <a:latin typeface="Calibri"/>
              </a:rPr>
              <a:t>The scientific claim is a ready hypothesis, not yet a measured result.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611880" cy="4572000"/>
          </a:xfrm>
          <a:prstGeom prst="roundRect">
            <a:avLst>
              <a:gd name="adj" fmla="val 8000"/>
            </a:avLst>
          </a:prstGeom>
          <a:solidFill>
            <a:srgbClr val="16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17720" y="1783080"/>
            <a:ext cx="457200" cy="457200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847088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Groundbreaking?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514600"/>
            <a:ext cx="315468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A6EA5"/>
                </a:solidFill>
                <a:latin typeface="Calibri"/>
              </a:rPr>
              <a:t>•  </a:t>
            </a:r>
            <a:r>
              <a:rPr sz="1200" b="0">
                <a:solidFill>
                  <a:srgbClr val="CADCFC"/>
                </a:solidFill>
                <a:latin typeface="Calibri"/>
              </a:rPr>
              <a:t>Not by out-scaling — ~1000× smaller than Evo 2 / AlphaGenome.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A6EA5"/>
                </a:solidFill>
                <a:latin typeface="Calibri"/>
              </a:rPr>
              <a:t>•  </a:t>
            </a:r>
            <a:r>
              <a:rPr sz="1200" b="0">
                <a:solidFill>
                  <a:srgbClr val="CADCFC"/>
                </a:solidFill>
                <a:latin typeface="Calibri"/>
              </a:rPr>
              <a:t>Yes if the mechanism is rigorously shown to help and others adopt it — as Caduceus did with one idea.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A6EA5"/>
                </a:solidFill>
                <a:latin typeface="Calibri"/>
              </a:rPr>
              <a:t>•  </a:t>
            </a:r>
            <a:r>
              <a:rPr sz="1200" b="0">
                <a:solidFill>
                  <a:srgbClr val="CADCFC"/>
                </a:solidFill>
                <a:latin typeface="Calibri"/>
              </a:rPr>
              <a:t>Wrong bar: 'like AIAYN' = a simple mechanism that scales.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611880" cy="4572000"/>
          </a:xfrm>
          <a:prstGeom prst="roundRect">
            <a:avLst>
              <a:gd name="adj" fmla="val 8000"/>
            </a:avLst>
          </a:prstGeom>
          <a:solidFill>
            <a:srgbClr val="162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21040" y="1783080"/>
            <a:ext cx="457200" cy="457200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847088"/>
            <a:ext cx="2743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Why it might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514600"/>
            <a:ext cx="3154680" cy="3474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•  </a:t>
            </a:r>
            <a:r>
              <a:rPr sz="1200" b="0">
                <a:solidFill>
                  <a:srgbClr val="CADCFC"/>
                </a:solidFill>
                <a:latin typeface="Calibri"/>
              </a:rPr>
              <a:t>MQAR may not separate from a tuned SSM.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•  </a:t>
            </a:r>
            <a:r>
              <a:rPr sz="1200" b="0">
                <a:solidFill>
                  <a:srgbClr val="CADCFC"/>
                </a:solidFill>
                <a:latin typeface="Calibri"/>
              </a:rPr>
              <a:t>Gate may collapse to 0 at scale.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•  </a:t>
            </a:r>
            <a:r>
              <a:rPr sz="1200" b="0">
                <a:solidFill>
                  <a:srgbClr val="CADCFC"/>
                </a:solidFill>
                <a:latin typeface="Calibri"/>
              </a:rPr>
              <a:t>Persistent slots may be dead weight; registers have a capacity ceiling.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E08A2B"/>
                </a:solidFill>
                <a:latin typeface="Calibri"/>
              </a:rPr>
              <a:t>•  </a:t>
            </a:r>
            <a:r>
              <a:rPr sz="1200" b="0">
                <a:solidFill>
                  <a:srgbClr val="CADCFC"/>
                </a:solidFill>
                <a:latin typeface="Calibri"/>
              </a:rPr>
              <a:t>May not transfer to genome scale.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1B24"/>
                </a:solidFill>
                <a:latin typeface="Cambria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170432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2E8B7A"/>
                </a:solidFill>
                <a:latin typeface="Calibri"/>
              </a:rPr>
              <a:t>Cheapest decisive signal first, then scale — the real test of the mechanism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783080"/>
            <a:ext cx="603504" cy="603504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764792"/>
            <a:ext cx="9921240" cy="749808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819656"/>
            <a:ext cx="94183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B1B24"/>
                </a:solidFill>
                <a:latin typeface="Calibri"/>
              </a:rPr>
              <a:t>Run MQAR + ablations on a free GPU (Modal). The cheap, falsifiable signal.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679191"/>
            <a:ext cx="603504" cy="60350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660903"/>
            <a:ext cx="9921240" cy="749808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715768"/>
            <a:ext cx="94183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B1B24"/>
                </a:solidFill>
                <a:latin typeface="Calibri"/>
              </a:rPr>
              <a:t>Controlled MAE pre-training + fair GUE probes; confirm memory stays active.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575303"/>
            <a:ext cx="603504" cy="603504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3557015"/>
            <a:ext cx="9921240" cy="749808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3611879"/>
            <a:ext cx="94183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B1B24"/>
                </a:solidFill>
                <a:latin typeface="Calibri"/>
              </a:rPr>
              <a:t>Scale: human genome → multi-species; 27M → 350M. Show the memory benefit GROWS with scale.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471416"/>
            <a:ext cx="603504" cy="603504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4453128"/>
            <a:ext cx="9921240" cy="749808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507992"/>
            <a:ext cx="94183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B1B24"/>
                </a:solidFill>
                <a:latin typeface="Calibri"/>
              </a:rPr>
              <a:t>Full GUE (28 tasks) + NT benchmarks vs current baselines; 3–5 seeds + confidence intervals.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367527"/>
            <a:ext cx="603504" cy="603504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5349240"/>
            <a:ext cx="9921240" cy="749808"/>
          </a:xfrm>
          <a:prstGeom prst="roundRect">
            <a:avLst>
              <a:gd name="adj" fmla="val 8000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5404103"/>
            <a:ext cx="941832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1B1B24"/>
                </a:solidFill>
                <a:latin typeface="Calibri"/>
              </a:rPr>
              <a:t>Target a niche SOTA (splice / non-coding variant) where long-range recall is the right tool.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A6A7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B1B24"/>
                </a:solidFill>
                <a:latin typeface="Cambria"/>
              </a:rPr>
              <a:t>References (selected, 25)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1. </a:t>
            </a:r>
            <a:r>
              <a:rPr sz="950" b="0">
                <a:solidFill>
                  <a:srgbClr val="1B1B24"/>
                </a:solidFill>
                <a:latin typeface="Calibri"/>
              </a:rPr>
              <a:t>Vaswani et al. Attention Is All You Need. NeurIPS 2017.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0710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2. </a:t>
            </a:r>
            <a:r>
              <a:rPr sz="950" b="0">
                <a:solidFill>
                  <a:srgbClr val="1B1B24"/>
                </a:solidFill>
                <a:latin typeface="Calibri"/>
              </a:rPr>
              <a:t>He et al. Masked Autoencoders Are Scalable Vision Learners. CVPR 2022.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68296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3. </a:t>
            </a:r>
            <a:r>
              <a:rPr sz="950" b="0">
                <a:solidFill>
                  <a:srgbClr val="1B1B24"/>
                </a:solidFill>
                <a:latin typeface="Calibri"/>
              </a:rPr>
              <a:t>Gu et al. Efficiently Modeling Long Sequences with Structured State Spaces (S4). ICLR 2022.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29484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4. </a:t>
            </a:r>
            <a:r>
              <a:rPr sz="950" b="0">
                <a:solidFill>
                  <a:srgbClr val="1B1B24"/>
                </a:solidFill>
                <a:latin typeface="Calibri"/>
              </a:rPr>
              <a:t>Gu &amp; Dao. Mamba: Linear-Time Sequence Modeling with Selective State Spaces. 2023.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5. </a:t>
            </a:r>
            <a:r>
              <a:rPr sz="950" b="0">
                <a:solidFill>
                  <a:srgbClr val="1B1B24"/>
                </a:solidFill>
                <a:latin typeface="Calibri"/>
              </a:rPr>
              <a:t>Dao &amp; Gu. Transformers are SSMs: Structured State Space Duality (Mamba-2). ICML 2024.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4518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6. </a:t>
            </a:r>
            <a:r>
              <a:rPr sz="950" b="0">
                <a:solidFill>
                  <a:srgbClr val="1B1B24"/>
                </a:solidFill>
                <a:latin typeface="Calibri"/>
              </a:rPr>
              <a:t>Poli et al. Hyena Hierarchy: Larger Convolutional Language Models. ICML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1304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7. </a:t>
            </a:r>
            <a:r>
              <a:rPr sz="950" b="0">
                <a:solidFill>
                  <a:srgbClr val="1B1B24"/>
                </a:solidFill>
                <a:latin typeface="Calibri"/>
              </a:rPr>
              <a:t>Lieber et al. Jamba: A Hybrid Transformer-Mamba Language Model. 2024.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74236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8. </a:t>
            </a:r>
            <a:r>
              <a:rPr sz="950" b="0">
                <a:solidFill>
                  <a:srgbClr val="1B1B24"/>
                </a:solidFill>
                <a:latin typeface="Calibri"/>
              </a:rPr>
              <a:t>De et al. Griffin: Gated Linear Recurrences + Local Attention.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35424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9. </a:t>
            </a:r>
            <a:r>
              <a:rPr sz="950" b="0">
                <a:solidFill>
                  <a:srgbClr val="1B1B24"/>
                </a:solidFill>
                <a:latin typeface="Calibri"/>
              </a:rPr>
              <a:t>Ramsauer et al. Hopfield Networks is All You Need. ICLR 2021.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96612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10. </a:t>
            </a:r>
            <a:r>
              <a:rPr sz="950" b="0">
                <a:solidFill>
                  <a:srgbClr val="1B1B24"/>
                </a:solidFill>
                <a:latin typeface="Calibri"/>
              </a:rPr>
              <a:t>Hoover et al. Energy Transformer. NeurIPS 2023.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11. </a:t>
            </a:r>
            <a:r>
              <a:rPr sz="950" b="0">
                <a:solidFill>
                  <a:srgbClr val="1B1B24"/>
                </a:solidFill>
                <a:latin typeface="Calibri"/>
              </a:rPr>
              <a:t>Wu et al. Provably Optimal Memory Capacity for Modern Hopfield Models. NeurIPS 2024.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189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12. </a:t>
            </a:r>
            <a:r>
              <a:rPr sz="950" b="0">
                <a:solidFill>
                  <a:srgbClr val="1B1B24"/>
                </a:solidFill>
                <a:latin typeface="Calibri"/>
              </a:rPr>
              <a:t>Jaegle et al. Perceiver: General Perception with Iterative Attention. ICML 2021.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80176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13. </a:t>
            </a:r>
            <a:r>
              <a:rPr sz="950" b="0">
                <a:solidFill>
                  <a:srgbClr val="1B1B24"/>
                </a:solidFill>
                <a:latin typeface="Calibri"/>
              </a:rPr>
              <a:t>Arora et al. Zoology: Measuring and Improving Recall in Efficient LMs. 2023.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64592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14. </a:t>
            </a:r>
            <a:r>
              <a:rPr sz="950" b="0">
                <a:solidFill>
                  <a:srgbClr val="1B1B24"/>
                </a:solidFill>
                <a:latin typeface="Calibri"/>
              </a:rPr>
              <a:t>Arora et al. Based: Balancing the Recall-Throughput Tradeoff. ICML 2024.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0710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15. </a:t>
            </a:r>
            <a:r>
              <a:rPr sz="950" b="0">
                <a:solidFill>
                  <a:srgbClr val="1B1B24"/>
                </a:solidFill>
                <a:latin typeface="Calibri"/>
              </a:rPr>
              <a:t>Ji et al. DNABERT. Bioinformatics 2021.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68296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16. </a:t>
            </a:r>
            <a:r>
              <a:rPr sz="950" b="0">
                <a:solidFill>
                  <a:srgbClr val="1B1B24"/>
                </a:solidFill>
                <a:latin typeface="Calibri"/>
              </a:rPr>
              <a:t>Zhou et al. DNABERT-2: Efficient Multi-Species Genome FM. ICLR 2024.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729484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17. </a:t>
            </a:r>
            <a:r>
              <a:rPr sz="950" b="0">
                <a:solidFill>
                  <a:srgbClr val="1B1B24"/>
                </a:solidFill>
                <a:latin typeface="Calibri"/>
              </a:rPr>
              <a:t>Dalla-Torre et al. The Nucleotide Transformer. Nature Methods 2025.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090672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18. </a:t>
            </a:r>
            <a:r>
              <a:rPr sz="950" b="0">
                <a:solidFill>
                  <a:srgbClr val="1B1B24"/>
                </a:solidFill>
                <a:latin typeface="Calibri"/>
              </a:rPr>
              <a:t>Nguyen et al. HyenaDNA: Single-Nucleotide Long-Range Modeling. NeurIPS 2023.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45186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19. </a:t>
            </a:r>
            <a:r>
              <a:rPr sz="950" b="0">
                <a:solidFill>
                  <a:srgbClr val="1B1B24"/>
                </a:solidFill>
                <a:latin typeface="Calibri"/>
              </a:rPr>
              <a:t>Schiff et al. Caduceus: Bi-Directional Equivariant DNA Modeling. ICML 2024.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81304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20. </a:t>
            </a:r>
            <a:r>
              <a:rPr sz="950" b="0">
                <a:solidFill>
                  <a:srgbClr val="1B1B24"/>
                </a:solidFill>
                <a:latin typeface="Calibri"/>
              </a:rPr>
              <a:t>Nguyen et al. Sequence Modeling &amp; Design at Genome Scale (Evo). Science 2024.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174236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21. </a:t>
            </a:r>
            <a:r>
              <a:rPr sz="950" b="0">
                <a:solidFill>
                  <a:srgbClr val="1B1B24"/>
                </a:solidFill>
                <a:latin typeface="Calibri"/>
              </a:rPr>
              <a:t>Brixi et al. Genome Modeling &amp; Design across Life with Evo 2. 2025.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535424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22. </a:t>
            </a:r>
            <a:r>
              <a:rPr sz="950" b="0">
                <a:solidFill>
                  <a:srgbClr val="1B1B24"/>
                </a:solidFill>
                <a:latin typeface="Calibri"/>
              </a:rPr>
              <a:t>Avsec et al. Gene Expression Prediction from Sequence (Enformer). Nat. Methods 2021.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896612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23. </a:t>
            </a:r>
            <a:r>
              <a:rPr sz="950" b="0">
                <a:solidFill>
                  <a:srgbClr val="1B1B24"/>
                </a:solidFill>
                <a:latin typeface="Calibri"/>
              </a:rPr>
              <a:t>Linder et al. Predicting RNA-seq Coverage at Base Resolution (Borzoi). Nat. Genet. 2025.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257800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24. </a:t>
            </a:r>
            <a:r>
              <a:rPr sz="950" b="0">
                <a:solidFill>
                  <a:srgbClr val="1B1B24"/>
                </a:solidFill>
                <a:latin typeface="Calibri"/>
              </a:rPr>
              <a:t>Avsec et al. AlphaGenome: Regulatory Variant-Effect Prediction. Nature 2025.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5618988"/>
            <a:ext cx="5486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3A6EA5"/>
                </a:solidFill>
                <a:latin typeface="Calibri"/>
              </a:rPr>
              <a:t>25. </a:t>
            </a:r>
            <a:r>
              <a:rPr sz="950" b="0">
                <a:solidFill>
                  <a:srgbClr val="1B1B24"/>
                </a:solidFill>
                <a:latin typeface="Calibri"/>
              </a:rPr>
              <a:t>Marin et al. BEND: Benchmarking DNA LMs on Meaningful Tasks. ICLR 2024.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6A6A7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Mechanism over scale.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383280"/>
            <a:ext cx="105156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CADCFC"/>
                </a:solidFill>
                <a:latin typeface="Calibri"/>
              </a:rPr>
              <a:t>A rigorously-validated associative-memory SSM — every number from a real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9768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E8B7A"/>
                </a:solidFill>
                <a:latin typeface="Calibri"/>
              </a:rPr>
              <a:t>github.com/charansaiponnada/Genomic-FM</a:t>
            </a:r>
          </a:p>
        </p:txBody>
      </p:sp>
      <p:sp>
        <p:nvSpPr>
          <p:cNvPr id="5" name="Oval 4"/>
          <p:cNvSpPr/>
          <p:nvPr/>
        </p:nvSpPr>
        <p:spPr>
          <a:xfrm>
            <a:off x="886968" y="3931920"/>
            <a:ext cx="164592" cy="164592"/>
          </a:xfrm>
          <a:prstGeom prst="ellipse">
            <a:avLst/>
          </a:prstGeom>
          <a:solidFill>
            <a:srgbClr val="2E8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97864" y="3931920"/>
            <a:ext cx="164592" cy="164592"/>
          </a:xfrm>
          <a:prstGeom prst="ellipse">
            <a:avLst/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3931920"/>
            <a:ext cx="164592" cy="164592"/>
          </a:xfrm>
          <a:prstGeom prst="ellipse">
            <a:avLst/>
          </a:prstGeom>
          <a:solidFill>
            <a:srgbClr val="E0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